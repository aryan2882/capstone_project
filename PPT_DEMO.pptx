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6" r:id="rId10"/>
    <p:sldId id="267" r:id="rId11"/>
    <p:sldId id="264"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2" autoAdjust="0"/>
    <p:restoredTop sz="94660"/>
  </p:normalViewPr>
  <p:slideViewPr>
    <p:cSldViewPr snapToGrid="0">
      <p:cViewPr varScale="1">
        <p:scale>
          <a:sx n="77" d="100"/>
          <a:sy n="77" d="100"/>
        </p:scale>
        <p:origin x="86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DA2786-271D-4EB1-A285-352BCD4F2E59}"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1684112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DA2786-271D-4EB1-A285-352BCD4F2E59}"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3917666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DA2786-271D-4EB1-A285-352BCD4F2E59}"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3896645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DA2786-271D-4EB1-A285-352BCD4F2E5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1004831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A2786-271D-4EB1-A285-352BCD4F2E59}" type="datetimeFigureOut">
              <a:rPr lang="en-IN" smtClean="0"/>
              <a:t>06-01-2026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322694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DA2786-271D-4EB1-A285-352BCD4F2E59}"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1012101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DA2786-271D-4EB1-A285-352BCD4F2E59}" type="datetimeFigureOut">
              <a:rPr lang="en-IN" smtClean="0"/>
              <a:t>06-01-2026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1020206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DA2786-271D-4EB1-A285-352BCD4F2E5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2145422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DA2786-271D-4EB1-A285-352BCD4F2E5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890657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DA2786-271D-4EB1-A285-352BCD4F2E5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633696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DA2786-271D-4EB1-A285-352BCD4F2E5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5621053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DA2786-271D-4EB1-A285-352BCD4F2E5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E31588-565A-413F-8C09-FD29FF9A03B8}"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08561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DA2786-271D-4EB1-A285-352BCD4F2E59}"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42406840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DA2786-271D-4EB1-A285-352BCD4F2E59}"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12118483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DA2786-271D-4EB1-A285-352BCD4F2E59}"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7743879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DA2786-271D-4EB1-A285-352BCD4F2E59}"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34582671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DA2786-271D-4EB1-A285-352BCD4F2E59}"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E31588-565A-413F-8C09-FD29FF9A03B8}" type="slidenum">
              <a:rPr lang="en-IN" smtClean="0"/>
              <a:t>‹#›</a:t>
            </a:fld>
            <a:endParaRPr lang="en-IN"/>
          </a:p>
        </p:txBody>
      </p:sp>
    </p:spTree>
    <p:extLst>
      <p:ext uri="{BB962C8B-B14F-4D97-AF65-F5344CB8AC3E}">
        <p14:creationId xmlns:p14="http://schemas.microsoft.com/office/powerpoint/2010/main" val="3097562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9DA2786-271D-4EB1-A285-352BCD4F2E59}" type="datetimeFigureOut">
              <a:rPr lang="en-IN" smtClean="0"/>
              <a:t>06-01-2026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0E31588-565A-413F-8C09-FD29FF9A03B8}" type="slidenum">
              <a:rPr lang="en-IN" smtClean="0"/>
              <a:t>‹#›</a:t>
            </a:fld>
            <a:endParaRPr lang="en-IN"/>
          </a:p>
        </p:txBody>
      </p:sp>
    </p:spTree>
    <p:extLst>
      <p:ext uri="{BB962C8B-B14F-4D97-AF65-F5344CB8AC3E}">
        <p14:creationId xmlns:p14="http://schemas.microsoft.com/office/powerpoint/2010/main" val="51435970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ater Utility Billing Made Easy with Top-Rated Software">
            <a:extLst>
              <a:ext uri="{FF2B5EF4-FFF2-40B4-BE49-F238E27FC236}">
                <a16:creationId xmlns:a16="http://schemas.microsoft.com/office/drawing/2014/main" id="{41A5D917-4E22-2C18-FED9-145DA87AA09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577" t="-495" r="20646" b="409"/>
          <a:stretch>
            <a:fillRect/>
          </a:stretch>
        </p:blipFill>
        <p:spPr bwMode="auto">
          <a:xfrm>
            <a:off x="298174" y="1560444"/>
            <a:ext cx="6221896" cy="439309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577D596-6DD0-50D2-C0C2-88118C671E22}"/>
              </a:ext>
            </a:extLst>
          </p:cNvPr>
          <p:cNvSpPr/>
          <p:nvPr/>
        </p:nvSpPr>
        <p:spPr>
          <a:xfrm>
            <a:off x="2494524" y="244013"/>
            <a:ext cx="6745757" cy="923330"/>
          </a:xfrm>
          <a:prstGeom prst="rect">
            <a:avLst/>
          </a:prstGeom>
          <a:noFill/>
        </p:spPr>
        <p:txBody>
          <a:bodyPr wrap="none" lIns="91440" tIns="45720" rIns="91440" bIns="45720">
            <a:spAutoFit/>
          </a:bodyPr>
          <a:lstStyle/>
          <a:p>
            <a:pPr algn="ctr"/>
            <a:r>
              <a:rPr lang="en-US" sz="5400" b="1"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Utility Billing System</a:t>
            </a:r>
          </a:p>
        </p:txBody>
      </p:sp>
      <p:sp>
        <p:nvSpPr>
          <p:cNvPr id="5" name="TextBox 4">
            <a:extLst>
              <a:ext uri="{FF2B5EF4-FFF2-40B4-BE49-F238E27FC236}">
                <a16:creationId xmlns:a16="http://schemas.microsoft.com/office/drawing/2014/main" id="{356A0E34-611C-62D1-B7AC-258018425966}"/>
              </a:ext>
            </a:extLst>
          </p:cNvPr>
          <p:cNvSpPr txBox="1"/>
          <p:nvPr/>
        </p:nvSpPr>
        <p:spPr>
          <a:xfrm>
            <a:off x="6851576" y="1814395"/>
            <a:ext cx="4777409" cy="3908762"/>
          </a:xfrm>
          <a:prstGeom prst="rect">
            <a:avLst/>
          </a:prstGeom>
          <a:noFill/>
        </p:spPr>
        <p:txBody>
          <a:bodyPr wrap="square" rtlCol="0">
            <a:spAutoFit/>
          </a:bodyPr>
          <a:lstStyle/>
          <a:p>
            <a:r>
              <a:rPr lang="en-US" sz="2800" i="1" dirty="0">
                <a:solidFill>
                  <a:srgbClr val="00B0F0"/>
                </a:solidFill>
              </a:rPr>
              <a:t>A Secure Full-Stack Web Application using ASP.NET Core &amp; Angular</a:t>
            </a:r>
          </a:p>
          <a:p>
            <a:endParaRPr lang="en-US" sz="2800" i="1" dirty="0">
              <a:solidFill>
                <a:srgbClr val="00B0F0"/>
              </a:solidFill>
            </a:endParaRPr>
          </a:p>
          <a:p>
            <a:endParaRPr lang="en-US" sz="2800" dirty="0"/>
          </a:p>
          <a:p>
            <a:r>
              <a:rPr lang="en-US" sz="2000" b="1" dirty="0"/>
              <a:t>Presented By: Aryan Raj</a:t>
            </a:r>
          </a:p>
          <a:p>
            <a:endParaRPr lang="en-US" sz="2000" b="1" dirty="0"/>
          </a:p>
          <a:p>
            <a:br>
              <a:rPr lang="en-US" sz="2000" dirty="0"/>
            </a:br>
            <a:r>
              <a:rPr lang="en-US" sz="2000" b="1" dirty="0"/>
              <a:t>Guide:</a:t>
            </a:r>
            <a:r>
              <a:rPr lang="en-US" sz="2000" dirty="0"/>
              <a:t> Mr. Munish Arora</a:t>
            </a:r>
          </a:p>
          <a:p>
            <a:endParaRPr lang="en-IN" sz="2800" dirty="0">
              <a:solidFill>
                <a:srgbClr val="00B0F0"/>
              </a:solidFill>
            </a:endParaRPr>
          </a:p>
        </p:txBody>
      </p:sp>
    </p:spTree>
    <p:extLst>
      <p:ext uri="{BB962C8B-B14F-4D97-AF65-F5344CB8AC3E}">
        <p14:creationId xmlns:p14="http://schemas.microsoft.com/office/powerpoint/2010/main" val="1048945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A825E79-1BB2-71FC-09AF-FF336367F0E4}"/>
              </a:ext>
            </a:extLst>
          </p:cNvPr>
          <p:cNvSpPr txBox="1"/>
          <p:nvPr/>
        </p:nvSpPr>
        <p:spPr>
          <a:xfrm>
            <a:off x="281608" y="993910"/>
            <a:ext cx="5814392" cy="3416320"/>
          </a:xfrm>
          <a:prstGeom prst="rect">
            <a:avLst/>
          </a:prstGeom>
          <a:noFill/>
        </p:spPr>
        <p:txBody>
          <a:bodyPr wrap="square" rtlCol="0">
            <a:spAutoFit/>
          </a:bodyPr>
          <a:lstStyle/>
          <a:p>
            <a:r>
              <a:rPr lang="en-US" b="1" dirty="0"/>
              <a:t>What is Utility Billing System?</a:t>
            </a:r>
          </a:p>
          <a:p>
            <a:r>
              <a:rPr lang="en-US" dirty="0"/>
              <a:t>A </a:t>
            </a:r>
            <a:r>
              <a:rPr lang="en-US" b="1" dirty="0"/>
              <a:t>comprehensive web-based application</a:t>
            </a:r>
            <a:r>
              <a:rPr lang="en-US" dirty="0"/>
              <a:t> designed to automate and streamline the complete utility billing lifecycle for electricity, water, gas, and other utility services.</a:t>
            </a:r>
          </a:p>
          <a:p>
            <a:endParaRPr lang="en-US" dirty="0"/>
          </a:p>
          <a:p>
            <a:r>
              <a:rPr lang="en-US" b="1" dirty="0"/>
              <a:t>Purpose</a:t>
            </a:r>
          </a:p>
          <a:p>
            <a:r>
              <a:rPr lang="en-US" dirty="0"/>
              <a:t>Transform traditional manual billing processes into a modern, efficient, and user-friendly digital solution that benefits both utility providers and consumers.</a:t>
            </a:r>
          </a:p>
          <a:p>
            <a:r>
              <a:rPr lang="en-US" b="1" dirty="0"/>
              <a:t>Scope</a:t>
            </a:r>
          </a:p>
          <a:p>
            <a:endParaRPr lang="en-IN" dirty="0"/>
          </a:p>
        </p:txBody>
      </p:sp>
      <p:sp>
        <p:nvSpPr>
          <p:cNvPr id="5" name="TextBox 4">
            <a:extLst>
              <a:ext uri="{FF2B5EF4-FFF2-40B4-BE49-F238E27FC236}">
                <a16:creationId xmlns:a16="http://schemas.microsoft.com/office/drawing/2014/main" id="{006AC51E-D812-6C8C-46A1-96985D5BB0F2}"/>
              </a:ext>
            </a:extLst>
          </p:cNvPr>
          <p:cNvSpPr txBox="1"/>
          <p:nvPr/>
        </p:nvSpPr>
        <p:spPr>
          <a:xfrm>
            <a:off x="6278218" y="2951922"/>
            <a:ext cx="5913782" cy="3693319"/>
          </a:xfrm>
          <a:prstGeom prst="rect">
            <a:avLst/>
          </a:prstGeom>
          <a:noFill/>
        </p:spPr>
        <p:txBody>
          <a:bodyPr wrap="square" rtlCol="0">
            <a:spAutoFit/>
          </a:bodyPr>
          <a:lstStyle/>
          <a:p>
            <a:r>
              <a:rPr lang="en-US" b="1" dirty="0"/>
              <a:t>User Management</a:t>
            </a:r>
            <a:r>
              <a:rPr lang="en-US" dirty="0"/>
              <a:t> with role-based access control</a:t>
            </a:r>
          </a:p>
          <a:p>
            <a:r>
              <a:rPr lang="en-US" b="1" dirty="0"/>
              <a:t>Consumer &amp; Connection Management</a:t>
            </a:r>
            <a:endParaRPr lang="en-US" dirty="0"/>
          </a:p>
          <a:p>
            <a:r>
              <a:rPr lang="en-US" b="1" dirty="0"/>
              <a:t>Automated Meter Reading &amp; Bill Generation</a:t>
            </a:r>
            <a:endParaRPr lang="en-US" dirty="0"/>
          </a:p>
          <a:p>
            <a:r>
              <a:rPr lang="en-US" b="1" dirty="0"/>
              <a:t>Online &amp; Offline Payment Processing</a:t>
            </a:r>
            <a:endParaRPr lang="en-US" dirty="0"/>
          </a:p>
          <a:p>
            <a:r>
              <a:rPr lang="en-US" b="1" dirty="0"/>
              <a:t>Comprehensive Reporting &amp; Analytics</a:t>
            </a:r>
            <a:endParaRPr lang="en-US" dirty="0"/>
          </a:p>
          <a:p>
            <a:r>
              <a:rPr lang="en-US" b="1" dirty="0"/>
              <a:t>Automated Notification System</a:t>
            </a:r>
          </a:p>
          <a:p>
            <a:endParaRPr lang="en-US" dirty="0"/>
          </a:p>
          <a:p>
            <a:r>
              <a:rPr lang="en-US" b="1" dirty="0"/>
              <a:t>Target Users</a:t>
            </a:r>
          </a:p>
          <a:p>
            <a:r>
              <a:rPr lang="en-US" dirty="0"/>
              <a:t>✓ </a:t>
            </a:r>
            <a:r>
              <a:rPr lang="en-US" b="1" dirty="0"/>
              <a:t>Administrators</a:t>
            </a:r>
            <a:r>
              <a:rPr lang="en-US" dirty="0"/>
              <a:t> - System management</a:t>
            </a:r>
            <a:br>
              <a:rPr lang="en-US" dirty="0"/>
            </a:br>
            <a:r>
              <a:rPr lang="en-US" dirty="0"/>
              <a:t>✓ </a:t>
            </a:r>
            <a:r>
              <a:rPr lang="en-US" b="1" dirty="0"/>
              <a:t>Billing Officers</a:t>
            </a:r>
            <a:r>
              <a:rPr lang="en-US" dirty="0"/>
              <a:t> - Meter reading &amp; bill generation</a:t>
            </a:r>
            <a:br>
              <a:rPr lang="en-US" dirty="0"/>
            </a:br>
            <a:r>
              <a:rPr lang="en-US" dirty="0"/>
              <a:t>✓ </a:t>
            </a:r>
            <a:r>
              <a:rPr lang="en-US" b="1" dirty="0"/>
              <a:t>Account Officers</a:t>
            </a:r>
            <a:r>
              <a:rPr lang="en-US" dirty="0"/>
              <a:t> - Payment processing &amp; reports</a:t>
            </a:r>
            <a:br>
              <a:rPr lang="en-US" dirty="0"/>
            </a:br>
            <a:r>
              <a:rPr lang="en-US" dirty="0"/>
              <a:t>✓ </a:t>
            </a:r>
            <a:r>
              <a:rPr lang="en-US" b="1" dirty="0"/>
              <a:t>Consumers</a:t>
            </a:r>
            <a:r>
              <a:rPr lang="en-US" dirty="0"/>
              <a:t> - Self-service portal</a:t>
            </a:r>
          </a:p>
          <a:p>
            <a:endParaRPr lang="en-IN" dirty="0"/>
          </a:p>
        </p:txBody>
      </p:sp>
      <p:sp>
        <p:nvSpPr>
          <p:cNvPr id="6" name="TextBox 5">
            <a:extLst>
              <a:ext uri="{FF2B5EF4-FFF2-40B4-BE49-F238E27FC236}">
                <a16:creationId xmlns:a16="http://schemas.microsoft.com/office/drawing/2014/main" id="{3C62DDF4-0448-EDD4-BA83-F5A3A3E98141}"/>
              </a:ext>
            </a:extLst>
          </p:cNvPr>
          <p:cNvSpPr txBox="1"/>
          <p:nvPr/>
        </p:nvSpPr>
        <p:spPr>
          <a:xfrm>
            <a:off x="3528391" y="129209"/>
            <a:ext cx="5715000" cy="646331"/>
          </a:xfrm>
          <a:prstGeom prst="rect">
            <a:avLst/>
          </a:prstGeom>
          <a:noFill/>
        </p:spPr>
        <p:txBody>
          <a:bodyPr wrap="square" rtlCol="0">
            <a:spAutoFit/>
          </a:bodyPr>
          <a:lstStyle/>
          <a:p>
            <a:pPr algn="ctr"/>
            <a:r>
              <a:rPr lang="en-IN" sz="3600" b="1" dirty="0">
                <a:latin typeface="Algerian" panose="04020705040A02060702" pitchFamily="82" charset="0"/>
              </a:rPr>
              <a:t>Project Overview</a:t>
            </a:r>
          </a:p>
        </p:txBody>
      </p:sp>
    </p:spTree>
    <p:extLst>
      <p:ext uri="{BB962C8B-B14F-4D97-AF65-F5344CB8AC3E}">
        <p14:creationId xmlns:p14="http://schemas.microsoft.com/office/powerpoint/2010/main" val="2433770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2C74E-FB1F-2CC6-B8DF-2938114DB2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CA5002-EFAF-05A4-B5C3-37DC0C469F8F}"/>
              </a:ext>
            </a:extLst>
          </p:cNvPr>
          <p:cNvSpPr txBox="1"/>
          <p:nvPr/>
        </p:nvSpPr>
        <p:spPr>
          <a:xfrm>
            <a:off x="318052" y="308113"/>
            <a:ext cx="5555974" cy="4339650"/>
          </a:xfrm>
          <a:prstGeom prst="rect">
            <a:avLst/>
          </a:prstGeom>
          <a:noFill/>
        </p:spPr>
        <p:txBody>
          <a:bodyPr wrap="square" rtlCol="0">
            <a:spAutoFit/>
          </a:bodyPr>
          <a:lstStyle/>
          <a:p>
            <a:r>
              <a:rPr lang="en-US" sz="2400" b="1" dirty="0">
                <a:latin typeface="Algerian" panose="04020705040A02060702" pitchFamily="82" charset="0"/>
              </a:rPr>
              <a:t>SLIDE 3: PROBLEM STATEMENT</a:t>
            </a:r>
          </a:p>
          <a:p>
            <a:endParaRPr lang="en-US" b="1" dirty="0"/>
          </a:p>
          <a:p>
            <a:endParaRPr lang="en-US" b="1" dirty="0"/>
          </a:p>
          <a:p>
            <a:r>
              <a:rPr lang="en-US" b="1" dirty="0"/>
              <a:t>Challenges in Traditional Billing Systems</a:t>
            </a:r>
          </a:p>
          <a:p>
            <a:endParaRPr lang="en-US" b="1" dirty="0"/>
          </a:p>
          <a:p>
            <a:r>
              <a:rPr lang="en-US" b="1" dirty="0"/>
              <a:t>1. Manual Processes</a:t>
            </a:r>
            <a:endParaRPr lang="en-US" dirty="0"/>
          </a:p>
          <a:p>
            <a:r>
              <a:rPr lang="en-US" dirty="0"/>
              <a:t>Physical meter reading visits consuming time and resources</a:t>
            </a:r>
          </a:p>
          <a:p>
            <a:r>
              <a:rPr lang="en-US" dirty="0"/>
              <a:t>Manual bill calculations prone to arithmetic errors</a:t>
            </a:r>
          </a:p>
          <a:p>
            <a:r>
              <a:rPr lang="en-US" dirty="0"/>
              <a:t>Paper-based record keeping with risk of data loss</a:t>
            </a:r>
          </a:p>
          <a:p>
            <a:endParaRPr lang="en-US" dirty="0"/>
          </a:p>
          <a:p>
            <a:r>
              <a:rPr lang="en-US" b="1" dirty="0"/>
              <a:t>2. Operational Inefficiencies</a:t>
            </a:r>
            <a:endParaRPr lang="en-US" dirty="0"/>
          </a:p>
          <a:p>
            <a:r>
              <a:rPr lang="en-US" dirty="0"/>
              <a:t>Delayed bill generation and distribution</a:t>
            </a:r>
          </a:p>
          <a:p>
            <a:r>
              <a:rPr lang="en-US" dirty="0"/>
              <a:t>Long queues for payment collection</a:t>
            </a:r>
          </a:p>
          <a:p>
            <a:r>
              <a:rPr lang="en-US" dirty="0"/>
              <a:t>Difficulty in tracking outstanding dues</a:t>
            </a:r>
            <a:endParaRPr lang="en-IN" dirty="0"/>
          </a:p>
        </p:txBody>
      </p:sp>
      <p:sp>
        <p:nvSpPr>
          <p:cNvPr id="3" name="TextBox 2">
            <a:extLst>
              <a:ext uri="{FF2B5EF4-FFF2-40B4-BE49-F238E27FC236}">
                <a16:creationId xmlns:a16="http://schemas.microsoft.com/office/drawing/2014/main" id="{7461DA39-5646-85D2-6F27-3CED3012D8F5}"/>
              </a:ext>
            </a:extLst>
          </p:cNvPr>
          <p:cNvSpPr txBox="1"/>
          <p:nvPr/>
        </p:nvSpPr>
        <p:spPr>
          <a:xfrm>
            <a:off x="6046304" y="1743526"/>
            <a:ext cx="5655365" cy="4247317"/>
          </a:xfrm>
          <a:prstGeom prst="rect">
            <a:avLst/>
          </a:prstGeom>
          <a:noFill/>
        </p:spPr>
        <p:txBody>
          <a:bodyPr wrap="square" rtlCol="0">
            <a:spAutoFit/>
          </a:bodyPr>
          <a:lstStyle/>
          <a:p>
            <a:r>
              <a:rPr lang="en-US" b="1" dirty="0"/>
              <a:t>3. Poor Customer Experience</a:t>
            </a:r>
            <a:endParaRPr lang="en-US" dirty="0"/>
          </a:p>
          <a:p>
            <a:r>
              <a:rPr lang="en-US" dirty="0"/>
              <a:t>No visibility into consumption patterns</a:t>
            </a:r>
          </a:p>
          <a:p>
            <a:r>
              <a:rPr lang="en-US" dirty="0"/>
              <a:t>Delayed bill delivery through postal service-</a:t>
            </a:r>
          </a:p>
          <a:p>
            <a:r>
              <a:rPr lang="en-US" dirty="0"/>
              <a:t>No access to historical billing data</a:t>
            </a:r>
          </a:p>
          <a:p>
            <a:endParaRPr lang="en-US" dirty="0"/>
          </a:p>
          <a:p>
            <a:r>
              <a:rPr lang="en-US" b="1" dirty="0"/>
              <a:t>4. Limited Analytics</a:t>
            </a:r>
            <a:endParaRPr lang="en-US" dirty="0"/>
          </a:p>
          <a:p>
            <a:r>
              <a:rPr lang="en-US" dirty="0"/>
              <a:t>Difficulty in generating reports</a:t>
            </a:r>
          </a:p>
          <a:p>
            <a:r>
              <a:rPr lang="en-US" dirty="0"/>
              <a:t>Cannot identify consumption patterns</a:t>
            </a:r>
          </a:p>
          <a:p>
            <a:r>
              <a:rPr lang="en-US" dirty="0"/>
              <a:t>Manual data aggregation is time-consuming</a:t>
            </a:r>
          </a:p>
          <a:p>
            <a:endParaRPr lang="en-US" dirty="0"/>
          </a:p>
          <a:p>
            <a:r>
              <a:rPr lang="en-US" b="1" dirty="0"/>
              <a:t>5. Data Security Concerns</a:t>
            </a:r>
            <a:endParaRPr lang="en-US" dirty="0"/>
          </a:p>
          <a:p>
            <a:r>
              <a:rPr lang="en-US" dirty="0"/>
              <a:t>Physical records susceptible to damage/loss</a:t>
            </a:r>
          </a:p>
          <a:p>
            <a:r>
              <a:rPr lang="en-US" dirty="0"/>
              <a:t>No audit trails for accountability</a:t>
            </a:r>
          </a:p>
          <a:p>
            <a:r>
              <a:rPr lang="en-US" dirty="0"/>
              <a:t>Difficult to maintain data consistency</a:t>
            </a:r>
          </a:p>
          <a:p>
            <a:endParaRPr lang="en-IN" dirty="0"/>
          </a:p>
        </p:txBody>
      </p:sp>
    </p:spTree>
    <p:extLst>
      <p:ext uri="{BB962C8B-B14F-4D97-AF65-F5344CB8AC3E}">
        <p14:creationId xmlns:p14="http://schemas.microsoft.com/office/powerpoint/2010/main" val="4030910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5658B-5D8D-F026-2445-14E06E3905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7FB73B-036A-C22C-E8B1-734B8CAC7916}"/>
              </a:ext>
            </a:extLst>
          </p:cNvPr>
          <p:cNvSpPr txBox="1"/>
          <p:nvPr/>
        </p:nvSpPr>
        <p:spPr>
          <a:xfrm>
            <a:off x="397564" y="437322"/>
            <a:ext cx="6867939" cy="5509200"/>
          </a:xfrm>
          <a:prstGeom prst="rect">
            <a:avLst/>
          </a:prstGeom>
          <a:noFill/>
        </p:spPr>
        <p:txBody>
          <a:bodyPr wrap="square" rtlCol="0">
            <a:spAutoFit/>
          </a:bodyPr>
          <a:lstStyle/>
          <a:p>
            <a:r>
              <a:rPr lang="en-IN" sz="2800" b="1" dirty="0">
                <a:latin typeface="Algerian" panose="04020705040A02060702" pitchFamily="82" charset="0"/>
              </a:rPr>
              <a:t>SLIDE 4: SOLUTION AND KEY FEATURES</a:t>
            </a:r>
          </a:p>
          <a:p>
            <a:endParaRPr lang="en-IN" sz="2400" b="1" dirty="0"/>
          </a:p>
          <a:p>
            <a:r>
              <a:rPr lang="en-IN" b="1" dirty="0"/>
              <a:t>Our Solution: Complete Digital Transformation</a:t>
            </a:r>
          </a:p>
          <a:p>
            <a:r>
              <a:rPr lang="en-IN" b="1" dirty="0"/>
              <a:t>Role-Based Architecture with Four User Roles:</a:t>
            </a:r>
          </a:p>
          <a:p>
            <a:endParaRPr lang="en-IN" dirty="0"/>
          </a:p>
          <a:p>
            <a:r>
              <a:rPr lang="en-IN" b="1" dirty="0"/>
              <a:t> ADMIN FEATURES</a:t>
            </a:r>
          </a:p>
          <a:p>
            <a:r>
              <a:rPr lang="en-IN" dirty="0"/>
              <a:t> </a:t>
            </a:r>
            <a:r>
              <a:rPr lang="en-IN" sz="1600" dirty="0"/>
              <a:t>User role assignment (Consumer, Billing Officer, Account Officer)</a:t>
            </a:r>
            <a:br>
              <a:rPr lang="en-IN" sz="1600" dirty="0"/>
            </a:br>
            <a:r>
              <a:rPr lang="en-IN" sz="1600" dirty="0"/>
              <a:t> View all consumers and staff members</a:t>
            </a:r>
            <a:br>
              <a:rPr lang="en-IN" sz="1600" dirty="0"/>
            </a:br>
            <a:r>
              <a:rPr lang="en-IN" sz="1600" dirty="0"/>
              <a:t> Create &amp; manage utility types (Electricity, Water, Gas)</a:t>
            </a:r>
            <a:br>
              <a:rPr lang="en-IN" sz="1600" dirty="0"/>
            </a:br>
            <a:r>
              <a:rPr lang="en-IN" sz="1600" dirty="0"/>
              <a:t> Configure billing cycles (Monthly/Quarterly)</a:t>
            </a:r>
            <a:br>
              <a:rPr lang="en-IN" sz="1600" dirty="0"/>
            </a:br>
            <a:r>
              <a:rPr lang="en-IN" sz="1600" dirty="0"/>
              <a:t> Define tariff slabs with rates</a:t>
            </a:r>
            <a:br>
              <a:rPr lang="en-IN" sz="1600" dirty="0"/>
            </a:br>
            <a:r>
              <a:rPr lang="en-IN" sz="1600" dirty="0"/>
              <a:t> Establish consumer-utility connections</a:t>
            </a:r>
          </a:p>
          <a:p>
            <a:endParaRPr lang="en-IN" sz="1600" dirty="0"/>
          </a:p>
          <a:p>
            <a:endParaRPr lang="en-IN" sz="1600" dirty="0"/>
          </a:p>
          <a:p>
            <a:r>
              <a:rPr lang="en-IN" sz="1600" b="1" dirty="0"/>
              <a:t> BILLING OFFICER FEATURES</a:t>
            </a:r>
          </a:p>
          <a:p>
            <a:r>
              <a:rPr lang="en-IN" sz="1600" dirty="0"/>
              <a:t> View all meter readings history</a:t>
            </a:r>
            <a:br>
              <a:rPr lang="en-IN" sz="1600" dirty="0"/>
            </a:br>
            <a:r>
              <a:rPr lang="en-IN" sz="1600" dirty="0"/>
              <a:t> Enter new meter readings with validation</a:t>
            </a:r>
            <a:br>
              <a:rPr lang="en-IN" sz="1600" dirty="0"/>
            </a:br>
            <a:r>
              <a:rPr lang="en-IN" sz="1600" dirty="0"/>
              <a:t> Generate bills automatically based on consumption</a:t>
            </a:r>
            <a:br>
              <a:rPr lang="en-IN" sz="1600" dirty="0"/>
            </a:br>
            <a:r>
              <a:rPr lang="en-IN" sz="1600" dirty="0"/>
              <a:t> View unbilled meter readings</a:t>
            </a:r>
          </a:p>
          <a:p>
            <a:endParaRPr lang="en-IN" dirty="0"/>
          </a:p>
        </p:txBody>
      </p:sp>
      <p:sp>
        <p:nvSpPr>
          <p:cNvPr id="3" name="TextBox 2">
            <a:extLst>
              <a:ext uri="{FF2B5EF4-FFF2-40B4-BE49-F238E27FC236}">
                <a16:creationId xmlns:a16="http://schemas.microsoft.com/office/drawing/2014/main" id="{2F6AE0BF-08C1-9D19-F348-01A25A14CD86}"/>
              </a:ext>
            </a:extLst>
          </p:cNvPr>
          <p:cNvSpPr txBox="1"/>
          <p:nvPr/>
        </p:nvSpPr>
        <p:spPr>
          <a:xfrm>
            <a:off x="6586331" y="1838739"/>
            <a:ext cx="5605669" cy="4985980"/>
          </a:xfrm>
          <a:prstGeom prst="rect">
            <a:avLst/>
          </a:prstGeom>
          <a:noFill/>
        </p:spPr>
        <p:txBody>
          <a:bodyPr wrap="square" rtlCol="0">
            <a:spAutoFit/>
          </a:bodyPr>
          <a:lstStyle/>
          <a:p>
            <a:r>
              <a:rPr lang="en-IN" b="1" dirty="0"/>
              <a:t> ACCOUNT OFFICER FEATURES</a:t>
            </a:r>
          </a:p>
          <a:p>
            <a:r>
              <a:rPr lang="en-IN" dirty="0"/>
              <a:t> </a:t>
            </a:r>
            <a:r>
              <a:rPr lang="en-IN" sz="1600" dirty="0"/>
              <a:t>View all payments and outstanding dues</a:t>
            </a:r>
            <a:br>
              <a:rPr lang="en-IN" sz="1600" dirty="0"/>
            </a:br>
            <a:r>
              <a:rPr lang="en-IN" sz="1600" dirty="0"/>
              <a:t> Record offline payments (Cash/Cheque)</a:t>
            </a:r>
            <a:br>
              <a:rPr lang="en-IN" sz="1600" dirty="0"/>
            </a:br>
            <a:r>
              <a:rPr lang="en-IN" sz="1600" dirty="0"/>
              <a:t> Generate consumption reports</a:t>
            </a:r>
            <a:br>
              <a:rPr lang="en-IN" sz="1600" dirty="0"/>
            </a:br>
            <a:r>
              <a:rPr lang="en-IN" sz="1600" dirty="0"/>
              <a:t> Create consumer summary reports</a:t>
            </a:r>
            <a:br>
              <a:rPr lang="en-IN" sz="1600" dirty="0"/>
            </a:br>
            <a:r>
              <a:rPr lang="en-IN" sz="1600" dirty="0"/>
              <a:t> Track payment collections</a:t>
            </a:r>
          </a:p>
          <a:p>
            <a:endParaRPr lang="en-IN" dirty="0"/>
          </a:p>
          <a:p>
            <a:r>
              <a:rPr lang="en-IN" b="1" dirty="0"/>
              <a:t> CONSUMER FEATURES</a:t>
            </a:r>
          </a:p>
          <a:p>
            <a:r>
              <a:rPr lang="en-IN" sz="1600" dirty="0"/>
              <a:t> View profile and connection details</a:t>
            </a:r>
            <a:br>
              <a:rPr lang="en-IN" sz="1600" dirty="0"/>
            </a:br>
            <a:r>
              <a:rPr lang="en-IN" sz="1600" dirty="0"/>
              <a:t> Access current and historical bills</a:t>
            </a:r>
            <a:br>
              <a:rPr lang="en-IN" sz="1600" dirty="0"/>
            </a:br>
            <a:r>
              <a:rPr lang="en-IN" sz="1600" dirty="0"/>
              <a:t> Make online payments 24/7</a:t>
            </a:r>
            <a:br>
              <a:rPr lang="en-IN" sz="1600" dirty="0"/>
            </a:br>
            <a:r>
              <a:rPr lang="en-IN" sz="1600" dirty="0"/>
              <a:t> Download payment receipts</a:t>
            </a:r>
            <a:br>
              <a:rPr lang="en-IN" sz="1600" dirty="0"/>
            </a:br>
            <a:r>
              <a:rPr lang="en-IN" sz="1600" dirty="0"/>
              <a:t> View payment history</a:t>
            </a:r>
          </a:p>
          <a:p>
            <a:endParaRPr lang="en-IN" dirty="0"/>
          </a:p>
          <a:p>
            <a:r>
              <a:rPr lang="en-IN" b="1" dirty="0"/>
              <a:t>🔔 AUTOMATED NOTIFICATIONS</a:t>
            </a:r>
          </a:p>
          <a:p>
            <a:r>
              <a:rPr lang="en-IN" sz="1600" dirty="0"/>
              <a:t> Bill generation alerts</a:t>
            </a:r>
            <a:br>
              <a:rPr lang="en-IN" sz="1600" dirty="0"/>
            </a:br>
            <a:r>
              <a:rPr lang="en-IN" sz="1600" dirty="0"/>
              <a:t> Due date reminders (3 days before)</a:t>
            </a:r>
            <a:br>
              <a:rPr lang="en-IN" sz="1600" dirty="0"/>
            </a:br>
            <a:r>
              <a:rPr lang="en-IN" sz="1600" dirty="0"/>
              <a:t> Overdue notifications</a:t>
            </a:r>
          </a:p>
          <a:p>
            <a:endParaRPr lang="en-IN" dirty="0"/>
          </a:p>
        </p:txBody>
      </p:sp>
    </p:spTree>
    <p:extLst>
      <p:ext uri="{BB962C8B-B14F-4D97-AF65-F5344CB8AC3E}">
        <p14:creationId xmlns:p14="http://schemas.microsoft.com/office/powerpoint/2010/main" val="424278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6A5B0-EC27-68E3-4042-FDF74C1E1D9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2C8B7C8-E892-1F4D-B4AC-E7615316B9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6878" y="274982"/>
            <a:ext cx="6818243" cy="6308035"/>
          </a:xfrm>
          <a:prstGeom prst="rect">
            <a:avLst/>
          </a:prstGeom>
        </p:spPr>
      </p:pic>
    </p:spTree>
    <p:extLst>
      <p:ext uri="{BB962C8B-B14F-4D97-AF65-F5344CB8AC3E}">
        <p14:creationId xmlns:p14="http://schemas.microsoft.com/office/powerpoint/2010/main" val="751178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3B592-D218-3367-4E8B-EC8A5E8F564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9972B4F-4F88-7C65-83F3-C2BA6A29A6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9347" y="-69574"/>
            <a:ext cx="4572000" cy="6858000"/>
          </a:xfrm>
          <a:prstGeom prst="rect">
            <a:avLst/>
          </a:prstGeom>
        </p:spPr>
      </p:pic>
      <p:sp>
        <p:nvSpPr>
          <p:cNvPr id="5" name="TextBox 4">
            <a:extLst>
              <a:ext uri="{FF2B5EF4-FFF2-40B4-BE49-F238E27FC236}">
                <a16:creationId xmlns:a16="http://schemas.microsoft.com/office/drawing/2014/main" id="{D2EFF0B2-7A2D-99DE-6965-DAEE39684777}"/>
              </a:ext>
            </a:extLst>
          </p:cNvPr>
          <p:cNvSpPr txBox="1"/>
          <p:nvPr/>
        </p:nvSpPr>
        <p:spPr>
          <a:xfrm>
            <a:off x="238540" y="1361661"/>
            <a:ext cx="5168348" cy="1754326"/>
          </a:xfrm>
          <a:prstGeom prst="rect">
            <a:avLst/>
          </a:prstGeom>
          <a:noFill/>
        </p:spPr>
        <p:txBody>
          <a:bodyPr wrap="square" rtlCol="0">
            <a:spAutoFit/>
          </a:bodyPr>
          <a:lstStyle/>
          <a:p>
            <a:r>
              <a:rPr lang="en-IN" sz="5400" b="1" dirty="0">
                <a:latin typeface="Algerian" panose="04020705040A02060702" pitchFamily="82" charset="0"/>
              </a:rPr>
              <a:t>System </a:t>
            </a:r>
          </a:p>
          <a:p>
            <a:r>
              <a:rPr lang="en-IN" sz="5400" b="1" dirty="0">
                <a:latin typeface="Algerian" panose="04020705040A02060702" pitchFamily="82" charset="0"/>
              </a:rPr>
              <a:t>Architecture</a:t>
            </a:r>
          </a:p>
        </p:txBody>
      </p:sp>
    </p:spTree>
    <p:extLst>
      <p:ext uri="{BB962C8B-B14F-4D97-AF65-F5344CB8AC3E}">
        <p14:creationId xmlns:p14="http://schemas.microsoft.com/office/powerpoint/2010/main" val="4059745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376A-2A0F-22FE-4C7A-6E5B669F844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59FC9FF-B82D-B146-F013-7A85736F160E}"/>
              </a:ext>
            </a:extLst>
          </p:cNvPr>
          <p:cNvPicPr>
            <a:picLocks noChangeAspect="1"/>
          </p:cNvPicPr>
          <p:nvPr/>
        </p:nvPicPr>
        <p:blipFill>
          <a:blip r:embed="rId2"/>
          <a:stretch>
            <a:fillRect/>
          </a:stretch>
        </p:blipFill>
        <p:spPr>
          <a:xfrm>
            <a:off x="2540412" y="1893751"/>
            <a:ext cx="9651588" cy="4964249"/>
          </a:xfrm>
          <a:prstGeom prst="rect">
            <a:avLst/>
          </a:prstGeom>
        </p:spPr>
      </p:pic>
      <p:sp>
        <p:nvSpPr>
          <p:cNvPr id="4" name="TextBox 3">
            <a:extLst>
              <a:ext uri="{FF2B5EF4-FFF2-40B4-BE49-F238E27FC236}">
                <a16:creationId xmlns:a16="http://schemas.microsoft.com/office/drawing/2014/main" id="{BF4FC530-F953-F23D-221D-A9E431B629E8}"/>
              </a:ext>
            </a:extLst>
          </p:cNvPr>
          <p:cNvSpPr txBox="1"/>
          <p:nvPr/>
        </p:nvSpPr>
        <p:spPr>
          <a:xfrm>
            <a:off x="4333461" y="188843"/>
            <a:ext cx="4194313" cy="523220"/>
          </a:xfrm>
          <a:prstGeom prst="rect">
            <a:avLst/>
          </a:prstGeom>
          <a:noFill/>
        </p:spPr>
        <p:txBody>
          <a:bodyPr wrap="square" rtlCol="0">
            <a:spAutoFit/>
          </a:bodyPr>
          <a:lstStyle/>
          <a:p>
            <a:r>
              <a:rPr lang="en-IN" sz="2800" dirty="0">
                <a:latin typeface="Algerian" panose="04020705040A02060702" pitchFamily="82" charset="0"/>
              </a:rPr>
              <a:t>Admin Dashboard</a:t>
            </a:r>
          </a:p>
        </p:txBody>
      </p:sp>
      <p:sp>
        <p:nvSpPr>
          <p:cNvPr id="5" name="TextBox 4">
            <a:extLst>
              <a:ext uri="{FF2B5EF4-FFF2-40B4-BE49-F238E27FC236}">
                <a16:creationId xmlns:a16="http://schemas.microsoft.com/office/drawing/2014/main" id="{50B574CA-FA32-AFCF-DFDF-4C9F5CC36A46}"/>
              </a:ext>
            </a:extLst>
          </p:cNvPr>
          <p:cNvSpPr txBox="1"/>
          <p:nvPr/>
        </p:nvSpPr>
        <p:spPr>
          <a:xfrm>
            <a:off x="505239" y="823790"/>
            <a:ext cx="11360426" cy="1200329"/>
          </a:xfrm>
          <a:prstGeom prst="rect">
            <a:avLst/>
          </a:prstGeom>
          <a:noFill/>
        </p:spPr>
        <p:txBody>
          <a:bodyPr wrap="square" rtlCol="0">
            <a:spAutoFit/>
          </a:bodyPr>
          <a:lstStyle/>
          <a:p>
            <a:pPr algn="just"/>
            <a:r>
              <a:rPr lang="en-US" dirty="0"/>
              <a:t>Admins assign roles to registered users, manage all consumers and staff, create utility types with charges, configure billing cycles, define tariff slabs, and establish connections between consumers and utilities. The dashboard provides complete system control with statistics on total consumers, active connections, and pending bills.</a:t>
            </a:r>
          </a:p>
          <a:p>
            <a:pPr algn="just"/>
            <a:endParaRPr lang="en-IN" dirty="0"/>
          </a:p>
        </p:txBody>
      </p:sp>
    </p:spTree>
    <p:extLst>
      <p:ext uri="{BB962C8B-B14F-4D97-AF65-F5344CB8AC3E}">
        <p14:creationId xmlns:p14="http://schemas.microsoft.com/office/powerpoint/2010/main" val="413142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773F6-A15C-636F-153A-2BFA1C55A2D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9EE898E-4C66-2C7A-FF7F-19B0CF898FA9}"/>
              </a:ext>
            </a:extLst>
          </p:cNvPr>
          <p:cNvPicPr>
            <a:picLocks noChangeAspect="1"/>
          </p:cNvPicPr>
          <p:nvPr/>
        </p:nvPicPr>
        <p:blipFill>
          <a:blip r:embed="rId2"/>
          <a:stretch>
            <a:fillRect/>
          </a:stretch>
        </p:blipFill>
        <p:spPr>
          <a:xfrm>
            <a:off x="2289292" y="1520687"/>
            <a:ext cx="9902707" cy="4964254"/>
          </a:xfrm>
          <a:prstGeom prst="rect">
            <a:avLst/>
          </a:prstGeom>
        </p:spPr>
      </p:pic>
      <p:sp>
        <p:nvSpPr>
          <p:cNvPr id="4" name="TextBox 3">
            <a:extLst>
              <a:ext uri="{FF2B5EF4-FFF2-40B4-BE49-F238E27FC236}">
                <a16:creationId xmlns:a16="http://schemas.microsoft.com/office/drawing/2014/main" id="{1F68EF7C-8AC2-4D06-6063-28137716922C}"/>
              </a:ext>
            </a:extLst>
          </p:cNvPr>
          <p:cNvSpPr txBox="1"/>
          <p:nvPr/>
        </p:nvSpPr>
        <p:spPr>
          <a:xfrm>
            <a:off x="3558209" y="238539"/>
            <a:ext cx="6261652" cy="523220"/>
          </a:xfrm>
          <a:prstGeom prst="rect">
            <a:avLst/>
          </a:prstGeom>
          <a:noFill/>
        </p:spPr>
        <p:txBody>
          <a:bodyPr wrap="square" rtlCol="0">
            <a:spAutoFit/>
          </a:bodyPr>
          <a:lstStyle/>
          <a:p>
            <a:r>
              <a:rPr lang="en-IN" sz="2800" dirty="0">
                <a:latin typeface="Algerian" panose="04020705040A02060702" pitchFamily="82" charset="0"/>
              </a:rPr>
              <a:t>Billing Officer Dashboard</a:t>
            </a:r>
          </a:p>
        </p:txBody>
      </p:sp>
      <p:sp>
        <p:nvSpPr>
          <p:cNvPr id="5" name="TextBox 4">
            <a:extLst>
              <a:ext uri="{FF2B5EF4-FFF2-40B4-BE49-F238E27FC236}">
                <a16:creationId xmlns:a16="http://schemas.microsoft.com/office/drawing/2014/main" id="{97B72AE1-1553-4A64-80C0-8057993EF15D}"/>
              </a:ext>
            </a:extLst>
          </p:cNvPr>
          <p:cNvSpPr txBox="1"/>
          <p:nvPr/>
        </p:nvSpPr>
        <p:spPr>
          <a:xfrm>
            <a:off x="159026" y="771698"/>
            <a:ext cx="12032973" cy="923330"/>
          </a:xfrm>
          <a:prstGeom prst="rect">
            <a:avLst/>
          </a:prstGeom>
          <a:noFill/>
        </p:spPr>
        <p:txBody>
          <a:bodyPr wrap="square" rtlCol="0">
            <a:spAutoFit/>
          </a:bodyPr>
          <a:lstStyle/>
          <a:p>
            <a:pPr algn="just"/>
            <a:r>
              <a:rPr lang="en-US" dirty="0"/>
              <a:t>Billing officers enter meter readings with automatic validation (current &gt; previous), view complete reading history, and generate bills with one click where the system automatically calculates amounts using tariff slabs and sets due dates. Dashboard shows readings entered today, pending unbilled readings, and bills generated this month.</a:t>
            </a:r>
            <a:endParaRPr lang="en-IN" dirty="0"/>
          </a:p>
        </p:txBody>
      </p:sp>
    </p:spTree>
    <p:extLst>
      <p:ext uri="{BB962C8B-B14F-4D97-AF65-F5344CB8AC3E}">
        <p14:creationId xmlns:p14="http://schemas.microsoft.com/office/powerpoint/2010/main" val="881104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26F5E-EFDA-858C-9B01-07B3B5249CE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A2554C2-B1A2-AF89-27F0-C8DCB804551A}"/>
              </a:ext>
            </a:extLst>
          </p:cNvPr>
          <p:cNvPicPr>
            <a:picLocks noChangeAspect="1"/>
          </p:cNvPicPr>
          <p:nvPr/>
        </p:nvPicPr>
        <p:blipFill>
          <a:blip r:embed="rId2"/>
          <a:stretch>
            <a:fillRect/>
          </a:stretch>
        </p:blipFill>
        <p:spPr>
          <a:xfrm>
            <a:off x="2635296" y="1679713"/>
            <a:ext cx="9556703" cy="4830642"/>
          </a:xfrm>
          <a:prstGeom prst="rect">
            <a:avLst/>
          </a:prstGeom>
        </p:spPr>
      </p:pic>
      <p:sp>
        <p:nvSpPr>
          <p:cNvPr id="4" name="TextBox 3">
            <a:extLst>
              <a:ext uri="{FF2B5EF4-FFF2-40B4-BE49-F238E27FC236}">
                <a16:creationId xmlns:a16="http://schemas.microsoft.com/office/drawing/2014/main" id="{F83778E4-EF3A-98CC-9BF1-578643392FE9}"/>
              </a:ext>
            </a:extLst>
          </p:cNvPr>
          <p:cNvSpPr txBox="1"/>
          <p:nvPr/>
        </p:nvSpPr>
        <p:spPr>
          <a:xfrm>
            <a:off x="3478696" y="86035"/>
            <a:ext cx="5824330" cy="523220"/>
          </a:xfrm>
          <a:prstGeom prst="rect">
            <a:avLst/>
          </a:prstGeom>
          <a:noFill/>
        </p:spPr>
        <p:txBody>
          <a:bodyPr wrap="square" rtlCol="0">
            <a:spAutoFit/>
          </a:bodyPr>
          <a:lstStyle/>
          <a:p>
            <a:r>
              <a:rPr lang="en-IN" sz="2800" dirty="0">
                <a:latin typeface="Algerian" panose="04020705040A02060702" pitchFamily="82" charset="0"/>
              </a:rPr>
              <a:t>Account Officer Dashboard</a:t>
            </a:r>
          </a:p>
        </p:txBody>
      </p:sp>
      <p:sp>
        <p:nvSpPr>
          <p:cNvPr id="6" name="TextBox 5">
            <a:extLst>
              <a:ext uri="{FF2B5EF4-FFF2-40B4-BE49-F238E27FC236}">
                <a16:creationId xmlns:a16="http://schemas.microsoft.com/office/drawing/2014/main" id="{DCEB2B34-D82F-80DA-5F17-763D64A05E09}"/>
              </a:ext>
            </a:extLst>
          </p:cNvPr>
          <p:cNvSpPr txBox="1"/>
          <p:nvPr/>
        </p:nvSpPr>
        <p:spPr>
          <a:xfrm>
            <a:off x="149087" y="619194"/>
            <a:ext cx="11936896" cy="923330"/>
          </a:xfrm>
          <a:prstGeom prst="rect">
            <a:avLst/>
          </a:prstGeom>
          <a:noFill/>
        </p:spPr>
        <p:txBody>
          <a:bodyPr wrap="square" rtlCol="0">
            <a:spAutoFit/>
          </a:bodyPr>
          <a:lstStyle/>
          <a:p>
            <a:pPr algn="just"/>
            <a:r>
              <a:rPr lang="en-US" dirty="0"/>
              <a:t>Account officers view all payments received, track outstanding and overdue bills in real-time, record offline payments (cash/cheque) at the office, and generate comprehensive financial reports including collection summaries and consumption analytics. Dashboard displays today's collections, total outstanding amount, and payment trends.</a:t>
            </a:r>
            <a:endParaRPr lang="en-IN" dirty="0"/>
          </a:p>
        </p:txBody>
      </p:sp>
    </p:spTree>
    <p:extLst>
      <p:ext uri="{BB962C8B-B14F-4D97-AF65-F5344CB8AC3E}">
        <p14:creationId xmlns:p14="http://schemas.microsoft.com/office/powerpoint/2010/main" val="3564297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81A86-E935-72ED-191C-8258049BE50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90C3620-8E48-FA8F-51C2-76153A2D03DD}"/>
              </a:ext>
            </a:extLst>
          </p:cNvPr>
          <p:cNvPicPr>
            <a:picLocks noChangeAspect="1"/>
          </p:cNvPicPr>
          <p:nvPr/>
        </p:nvPicPr>
        <p:blipFill>
          <a:blip r:embed="rId2"/>
          <a:stretch>
            <a:fillRect/>
          </a:stretch>
        </p:blipFill>
        <p:spPr>
          <a:xfrm>
            <a:off x="2674622" y="1699591"/>
            <a:ext cx="9517377" cy="4810764"/>
          </a:xfrm>
          <a:prstGeom prst="rect">
            <a:avLst/>
          </a:prstGeom>
        </p:spPr>
      </p:pic>
      <p:sp>
        <p:nvSpPr>
          <p:cNvPr id="4" name="TextBox 3">
            <a:extLst>
              <a:ext uri="{FF2B5EF4-FFF2-40B4-BE49-F238E27FC236}">
                <a16:creationId xmlns:a16="http://schemas.microsoft.com/office/drawing/2014/main" id="{E73CDB53-9EE7-3B2B-C082-565DCE1ED093}"/>
              </a:ext>
            </a:extLst>
          </p:cNvPr>
          <p:cNvSpPr txBox="1"/>
          <p:nvPr/>
        </p:nvSpPr>
        <p:spPr>
          <a:xfrm>
            <a:off x="4333461" y="188843"/>
            <a:ext cx="4194313" cy="523220"/>
          </a:xfrm>
          <a:prstGeom prst="rect">
            <a:avLst/>
          </a:prstGeom>
          <a:noFill/>
        </p:spPr>
        <p:txBody>
          <a:bodyPr wrap="square" rtlCol="0">
            <a:spAutoFit/>
          </a:bodyPr>
          <a:lstStyle/>
          <a:p>
            <a:r>
              <a:rPr lang="en-IN" sz="2800" dirty="0">
                <a:latin typeface="Algerian" panose="04020705040A02060702" pitchFamily="82" charset="0"/>
              </a:rPr>
              <a:t>Consumer Dashboard</a:t>
            </a:r>
          </a:p>
        </p:txBody>
      </p:sp>
      <p:sp>
        <p:nvSpPr>
          <p:cNvPr id="5" name="TextBox 4">
            <a:extLst>
              <a:ext uri="{FF2B5EF4-FFF2-40B4-BE49-F238E27FC236}">
                <a16:creationId xmlns:a16="http://schemas.microsoft.com/office/drawing/2014/main" id="{BB993D28-C9E6-F21D-864A-CE03BFBC4A78}"/>
              </a:ext>
            </a:extLst>
          </p:cNvPr>
          <p:cNvSpPr txBox="1"/>
          <p:nvPr/>
        </p:nvSpPr>
        <p:spPr>
          <a:xfrm>
            <a:off x="228600" y="712063"/>
            <a:ext cx="11787809" cy="917954"/>
          </a:xfrm>
          <a:prstGeom prst="rect">
            <a:avLst/>
          </a:prstGeom>
          <a:noFill/>
        </p:spPr>
        <p:txBody>
          <a:bodyPr wrap="square" rtlCol="0">
            <a:spAutoFit/>
          </a:bodyPr>
          <a:lstStyle/>
          <a:p>
            <a:pPr algn="just"/>
            <a:r>
              <a:rPr lang="en-US" dirty="0"/>
              <a:t>Consumers view their profile and connections, access current and historical bills, make online payments 24/7, download payment receipts, view complete payment history, and track consumption patterns with visual graphs. They receive automated notifications for bill generation, due date reminders, and payment confirmations.</a:t>
            </a:r>
            <a:endParaRPr lang="en-IN" dirty="0"/>
          </a:p>
        </p:txBody>
      </p:sp>
    </p:spTree>
    <p:extLst>
      <p:ext uri="{BB962C8B-B14F-4D97-AF65-F5344CB8AC3E}">
        <p14:creationId xmlns:p14="http://schemas.microsoft.com/office/powerpoint/2010/main" val="873134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86625-117E-E2B0-3D2C-E72901767A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C3E8909-CC13-C572-03DA-12A1022040B3}"/>
              </a:ext>
            </a:extLst>
          </p:cNvPr>
          <p:cNvSpPr txBox="1"/>
          <p:nvPr/>
        </p:nvSpPr>
        <p:spPr>
          <a:xfrm>
            <a:off x="2295939" y="765313"/>
            <a:ext cx="6927574" cy="1323439"/>
          </a:xfrm>
          <a:prstGeom prst="rect">
            <a:avLst/>
          </a:prstGeom>
          <a:noFill/>
        </p:spPr>
        <p:txBody>
          <a:bodyPr wrap="square" rtlCol="0">
            <a:spAutoFit/>
          </a:bodyPr>
          <a:lstStyle/>
          <a:p>
            <a:pPr algn="ctr"/>
            <a:r>
              <a:rPr lang="en-IN" sz="8000" dirty="0">
                <a:solidFill>
                  <a:srgbClr val="0070C0"/>
                </a:solidFill>
                <a:latin typeface="Algerian" panose="04020705040A02060702" pitchFamily="82" charset="0"/>
              </a:rPr>
              <a:t>LIVE DEMO</a:t>
            </a:r>
          </a:p>
        </p:txBody>
      </p:sp>
      <p:pic>
        <p:nvPicPr>
          <p:cNvPr id="5122" name="Picture 2" descr="3 Steps to a Winning Technical Demo - Think Listen Learn">
            <a:extLst>
              <a:ext uri="{FF2B5EF4-FFF2-40B4-BE49-F238E27FC236}">
                <a16:creationId xmlns:a16="http://schemas.microsoft.com/office/drawing/2014/main" id="{E7E99CC6-634A-A07D-7DA3-21D474D982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6537" y="2088752"/>
            <a:ext cx="7058025"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8079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D35EC-C5EF-443B-FC33-FD3F17FC5B1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66F73F-0017-A466-33FE-3538CC2930F0}"/>
              </a:ext>
            </a:extLst>
          </p:cNvPr>
          <p:cNvSpPr/>
          <p:nvPr/>
        </p:nvSpPr>
        <p:spPr>
          <a:xfrm>
            <a:off x="3455496" y="2251717"/>
            <a:ext cx="5281008" cy="1644422"/>
          </a:xfrm>
          <a:prstGeom prst="rect">
            <a:avLst/>
          </a:prstGeom>
          <a:noFill/>
        </p:spPr>
        <p:txBody>
          <a:bodyPr wrap="none" lIns="91440" tIns="45720" rIns="91440" bIns="45720">
            <a:prstTxWarp prst="textArchUp">
              <a:avLst/>
            </a:prstTxWarp>
            <a:spAutoFit/>
          </a:bodyPr>
          <a:lstStyle/>
          <a:p>
            <a:pPr algn="ctr"/>
            <a:r>
              <a:rPr lang="en-US" sz="34400" b="0" cap="none" spc="0" dirty="0">
                <a:ln w="0"/>
                <a:solidFill>
                  <a:schemeClr val="accent1"/>
                </a:solidFill>
                <a:effectLst>
                  <a:outerShdw blurRad="38100" dist="25400" dir="5400000" algn="ctr" rotWithShape="0">
                    <a:srgbClr val="6E747A">
                      <a:alpha val="43000"/>
                    </a:srgbClr>
                  </a:outerShdw>
                </a:effectLst>
                <a:latin typeface="Algerian" panose="04020705040A02060702" pitchFamily="82" charset="0"/>
              </a:rPr>
              <a:t>Thank You</a:t>
            </a:r>
          </a:p>
        </p:txBody>
      </p:sp>
    </p:spTree>
    <p:extLst>
      <p:ext uri="{BB962C8B-B14F-4D97-AF65-F5344CB8AC3E}">
        <p14:creationId xmlns:p14="http://schemas.microsoft.com/office/powerpoint/2010/main" val="8483281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109</TotalTime>
  <Words>692</Words>
  <Application>Microsoft Office PowerPoint</Application>
  <PresentationFormat>Widescreen</PresentationFormat>
  <Paragraphs>82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Algerian</vt:lpstr>
      <vt:lpstr>Calisto MT</vt:lpstr>
      <vt:lpstr>Wingdings 2</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Ajeet Kumar</dc:creator>
  <cp:lastModifiedBy>Ajeet Kumar</cp:lastModifiedBy>
  <cp:revision>2</cp:revision>
  <dcterms:created xsi:type="dcterms:W3CDTF">2026-01-05T10:40:18Z</dcterms:created>
  <dcterms:modified xsi:type="dcterms:W3CDTF">2026-01-06T08:30:05Z</dcterms:modified>
</cp:coreProperties>
</file>